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385" r:id="rId3"/>
    <p:sldId id="591" r:id="rId4"/>
    <p:sldId id="592" r:id="rId5"/>
    <p:sldId id="5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73EA"/>
    <a:srgbClr val="38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536BB-83C0-45BE-846B-1B8188E3707D}" v="4" dt="2022-11-29T13:41:56.401"/>
    <p1510:client id="{10B869D4-65DB-4B0C-84C4-BB95A32C81B1}" v="39" dt="2022-11-29T13:06:09.382"/>
    <p1510:client id="{13F39303-54F0-4E65-A511-4659C3344942}" v="286" dt="2022-11-29T13:29:34.506"/>
    <p1510:client id="{864CA64A-2A1C-4915-9841-0D2DE2B3ED6D}" v="4" dt="2022-11-29T13:07:19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39BBA-9313-4341-8E65-F4EE01D84B27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B5E27-2033-446A-8082-EB1C06E92F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16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E8F0-CAF6-44D3-9458-1919A38F7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74426-620C-4611-8F26-FB71EB175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612C9-5984-4BEE-9FF3-DA833D22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1FAD9-9183-49C6-B108-D35545DD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DF085-E129-4924-9157-8D75E772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04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06B4-95B9-49BC-9D3E-A8AB1E26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FADC3-3AE4-476E-8B9E-CBB04BD7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3656-F054-4ED5-A08C-7CB86ECD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11244-65D4-4226-BEC4-FAD38230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B9319-10CB-471C-BE89-C357A23F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3067E-3B42-42E0-8910-0230BD2884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6748" t="76748"/>
          <a:stretch/>
        </p:blipFill>
        <p:spPr>
          <a:xfrm>
            <a:off x="9357112" y="5263376"/>
            <a:ext cx="2834887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6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C012-AC22-4CDD-B4B1-E3EB4375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4476-9C69-43F6-9BF4-BBE83977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5DC7-C899-45C1-BD7C-58A49461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A69F0-3EAA-4CA4-9CFB-003D5E0B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DA099-BDA6-4715-80A9-B391ED2E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82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49AF-BE35-4C06-8024-10ACE42D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7C1FD-15E7-4019-ABC7-EB6A050E4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EC603-150A-481C-A8A6-EDA61B78E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0D77A-1769-41B6-A454-146B5D39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A9A12-5675-4DC6-BEF2-7EE9E613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332C2-EBE6-4B7C-91EF-8E5072D5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40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7CC7-A96E-48FD-938D-C510172C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93336-DD7B-4C50-81C3-71923FE54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18ABB-2A31-4188-9029-8E52B6AAC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B261C-ED5E-479C-BC4E-09DF30B85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206B1-6DDE-4FDE-9CAE-3FC094290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463B1-09EF-469C-AE30-CC22AB55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8E360-2BC5-470D-8F2E-E6AB9530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C0C9E-F98D-41AD-874B-A9946267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05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F558-F87F-4560-B317-EDE1B160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1E023-3449-4846-BC11-5F17E39C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EF7F9-8171-4A82-B89B-7CF181B7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6C8A4-77B8-42C3-B1DE-27267755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54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4E317-7E5F-4CAF-B56E-EEAECF82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5A5BE-CD71-47B9-9817-6387B5B83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F6EB2-7401-4F9E-87A4-A396D01C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59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68B3A-D083-48EE-947A-A6057D7C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B6726-2E37-4724-A440-F8D54400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D2023-6B10-4241-B4FC-E61DE226E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F8309-E2CB-4BE4-9B3C-5134D653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F11C0-7CB2-4DD6-ADBF-E5A94734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D2C4E-6A89-4629-82BC-918164C7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03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4E60-B34F-4FEB-98E2-F0A2EDB4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0DB37-F1DD-4FF1-8EEA-FEBBB905D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C9331-E9BB-4C6B-A920-82026D6C6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1E944-0C98-4DBD-8075-8854869D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C378C-7292-4009-A262-41B96A91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CB34D-5E73-46A7-B70F-3D032060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94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FC31-E1FB-4A86-9C4D-B4256A33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32FA7-D22F-443A-AC1A-33B842A9A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6F4CF-BB94-4158-B784-19E983E8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8E453-7DE0-4D35-9038-C594DC2D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F9A27-383D-4642-B491-0F59CE5D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45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B550D-933D-4EB5-983C-F94C2B161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86ED1-CA6F-484F-A08C-DEA4F7846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68AC9-6432-4D0E-81DB-D81B3CA6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FCEB0-7EE9-42DA-99F8-14FA3203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F985D-7216-44E4-A7CD-BFCCF87F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884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gradient">
    <p:bg>
      <p:bgPr>
        <a:gradFill flip="none" rotWithShape="1">
          <a:gsLst>
            <a:gs pos="0">
              <a:srgbClr val="2C3A87"/>
            </a:gs>
            <a:gs pos="100000">
              <a:srgbClr val="0061C7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8D205A-8809-2B44-AB1E-71C85A49D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901" r="51901"/>
          <a:stretch/>
        </p:blipFill>
        <p:spPr>
          <a:xfrm>
            <a:off x="0" y="3559372"/>
            <a:ext cx="5864225" cy="329862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16919" y="1014324"/>
            <a:ext cx="7452781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None/>
              <a:defRPr sz="42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86256FE-A010-8049-BA28-23A473D0C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5667" y="6255021"/>
            <a:ext cx="943304" cy="1581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ts val="1400"/>
              </a:lnSpc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D3A0D-17BE-9C4C-8AD5-B74C7DF6087A}" type="datetime1">
              <a:rPr lang="en-GB" smtClean="0"/>
              <a:t>16/02/2023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C0DADB-841E-9B4F-944B-99B077148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6919" y="374043"/>
            <a:ext cx="7452052" cy="648000"/>
          </a:xfrm>
        </p:spPr>
        <p:txBody>
          <a:bodyPr/>
          <a:lstStyle>
            <a:lvl1pPr>
              <a:lnSpc>
                <a:spcPts val="5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7396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48A80-E2C0-4F72-BD00-5E278242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F166-08CB-4CDE-8906-F279EC984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64762-DF79-40C0-9960-B6D761D69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A2442-9F59-4B42-AE05-E74691890F58}" type="datetimeFigureOut">
              <a:rPr lang="en-GB" smtClean="0"/>
              <a:t>16/02/2023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BF9D-CDF6-44D4-AD6B-D9AEFF05D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DB1E1-CE66-4D84-BC9C-FDC7A727A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00F63-F29F-433B-8DE2-37D2C8F6C02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-767040411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1783194C-B701-4522-969A-513A4414C176}"/>
              </a:ext>
            </a:extLst>
          </p:cNvPr>
          <p:cNvSpPr txBox="1"/>
          <p:nvPr userDrawn="1"/>
        </p:nvSpPr>
        <p:spPr>
          <a:xfrm>
            <a:off x="0" y="0"/>
            <a:ext cx="826000" cy="2334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900">
                <a:solidFill>
                  <a:srgbClr val="0078D7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9426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wlearning.servicenow.com/lxp?id=learning_course_prev&amp;course_id=023708df1bc0119cf95e99b8bd4bcb76" TargetMode="External"/><Relationship Id="rId2" Type="http://schemas.openxmlformats.org/officeDocument/2006/relationships/hyperlink" Target="https://developer.servicenow.com/dev.do#!/learn/learning-plans/tokyo/new_to_servicenow/app_store_learnv2_buildmyfirstapp_tokyo_servicenow_basics_objectives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eloper.servicenow.com/dev.do#!/learn/learning-plans/tokyo/servicenow_application_developer" TargetMode="External"/><Relationship Id="rId4" Type="http://schemas.openxmlformats.org/officeDocument/2006/relationships/hyperlink" Target="https://developer.servicenow.com/dev.do#!/learn/learning-plans/tokyo/servicenow_administrator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2406CF-C06E-E24E-9255-52A3B66E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244" y="374043"/>
            <a:ext cx="7452052" cy="648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ServiceNow - Training</a:t>
            </a:r>
            <a:endParaRPr lang="en-GB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289E28-C6D9-D748-B67C-778D46B20D5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16/01/2023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9FD12-36A1-4221-BA36-F54F8C8B4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Grow your skills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444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3E4DE469-1FA2-418F-92E5-9CD86C9F1F91}"/>
              </a:ext>
            </a:extLst>
          </p:cNvPr>
          <p:cNvSpPr txBox="1"/>
          <p:nvPr/>
        </p:nvSpPr>
        <p:spPr>
          <a:xfrm>
            <a:off x="619301" y="483445"/>
            <a:ext cx="11210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ServiceNow Training Overview</a:t>
            </a:r>
            <a:endParaRPr lang="en-GB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6D66C5-81E4-4744-8931-EFE058F03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193692"/>
              </p:ext>
            </p:extLst>
          </p:nvPr>
        </p:nvGraphicFramePr>
        <p:xfrm>
          <a:off x="604969" y="1331817"/>
          <a:ext cx="11225081" cy="213360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11225081">
                  <a:extLst>
                    <a:ext uri="{9D8B030D-6E8A-4147-A177-3AD203B41FA5}">
                      <a16:colId xmlns:a16="http://schemas.microsoft.com/office/drawing/2014/main" val="1914232934"/>
                    </a:ext>
                  </a:extLst>
                </a:gridCol>
              </a:tblGrid>
              <a:tr h="328461">
                <a:tc>
                  <a:txBody>
                    <a:bodyPr/>
                    <a:lstStyle/>
                    <a:p>
                      <a:r>
                        <a:rPr lang="en-US" sz="2000" dirty="0"/>
                        <a:t>Training Overview:</a:t>
                      </a:r>
                    </a:p>
                  </a:txBody>
                  <a:tcPr>
                    <a:solidFill>
                      <a:srgbClr val="047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525093"/>
                  </a:ext>
                </a:extLst>
              </a:tr>
              <a:tr h="102577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Understand fundamental features of ServiceNow platform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 the different configurations and customizations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 administration on the ServiceNow Platform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core configuration tasks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Obtain the knowledge of development tasks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i="0" dirty="0">
                          <a:solidFill>
                            <a:srgbClr val="172B4D"/>
                          </a:solidFill>
                          <a:effectLst/>
                          <a:latin typeface="-apple-system"/>
                        </a:rPr>
                        <a:t>Building Service Catalog Forms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04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658A0-CA4B-43E4-9097-721D9FADC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188834"/>
              </p:ext>
            </p:extLst>
          </p:nvPr>
        </p:nvGraphicFramePr>
        <p:xfrm>
          <a:off x="624019" y="3618020"/>
          <a:ext cx="11205572" cy="320040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11205572">
                  <a:extLst>
                    <a:ext uri="{9D8B030D-6E8A-4147-A177-3AD203B41FA5}">
                      <a16:colId xmlns:a16="http://schemas.microsoft.com/office/drawing/2014/main" val="727374101"/>
                    </a:ext>
                  </a:extLst>
                </a:gridCol>
              </a:tblGrid>
              <a:tr h="163405">
                <a:tc>
                  <a:txBody>
                    <a:bodyPr/>
                    <a:lstStyle/>
                    <a:p>
                      <a:r>
                        <a:rPr lang="en-US" sz="2000" dirty="0"/>
                        <a:t>Upon completion of the training: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5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new users, groups, and roles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users and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Configure and customize lists and forms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new applications on the NOW platform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Leverage events and notifications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with importing data through import 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custom reports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when to use UI policies, UI actions, business rules, script includes, and data policies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Service Catalog forms</a:t>
                      </a:r>
                    </a:p>
                    <a:p>
                      <a:pPr lvl="0" algn="just"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410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39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3E4DE469-1FA2-418F-92E5-9CD86C9F1F91}"/>
              </a:ext>
            </a:extLst>
          </p:cNvPr>
          <p:cNvSpPr txBox="1"/>
          <p:nvPr/>
        </p:nvSpPr>
        <p:spPr>
          <a:xfrm>
            <a:off x="619760" y="502495"/>
            <a:ext cx="11210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Build an internal team of ServiceNow experts</a:t>
            </a:r>
            <a:endParaRPr lang="en-GB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6D66C5-81E4-4744-8931-EFE058F03279}"/>
              </a:ext>
            </a:extLst>
          </p:cNvPr>
          <p:cNvGraphicFramePr>
            <a:graphicFrameLocks noGrp="1"/>
          </p:cNvGraphicFramePr>
          <p:nvPr/>
        </p:nvGraphicFramePr>
        <p:xfrm>
          <a:off x="604969" y="1331817"/>
          <a:ext cx="11225081" cy="1422013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11225081">
                  <a:extLst>
                    <a:ext uri="{9D8B030D-6E8A-4147-A177-3AD203B41FA5}">
                      <a16:colId xmlns:a16="http://schemas.microsoft.com/office/drawing/2014/main" val="1914232934"/>
                    </a:ext>
                  </a:extLst>
                </a:gridCol>
              </a:tblGrid>
              <a:tr h="328461">
                <a:tc>
                  <a:txBody>
                    <a:bodyPr/>
                    <a:lstStyle/>
                    <a:p>
                      <a:r>
                        <a:rPr lang="en-US" sz="2000" dirty="0"/>
                        <a:t>Objective: Build an internal team of ServiceNow experts</a:t>
                      </a:r>
                    </a:p>
                  </a:txBody>
                  <a:tcPr>
                    <a:solidFill>
                      <a:srgbClr val="047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525093"/>
                  </a:ext>
                </a:extLst>
              </a:tr>
              <a:tr h="102577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Improves talent pipeline for ServiceNow roles (like platform team) and increases organizational engagement around the value of service delivery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Meet digital transformation objectives faster</a:t>
                      </a:r>
                      <a:endParaRPr lang="en-US" b="0" i="0" dirty="0">
                        <a:solidFill>
                          <a:srgbClr val="172B4D"/>
                        </a:solidFill>
                        <a:effectLst/>
                        <a:latin typeface="-apple-syste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04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658A0-CA4B-43E4-9097-721D9FADC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771824"/>
              </p:ext>
            </p:extLst>
          </p:nvPr>
        </p:nvGraphicFramePr>
        <p:xfrm>
          <a:off x="624019" y="3113195"/>
          <a:ext cx="11205572" cy="356616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7273741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3347083147"/>
                    </a:ext>
                  </a:extLst>
                </a:gridCol>
                <a:gridCol w="3471272">
                  <a:extLst>
                    <a:ext uri="{9D8B030D-6E8A-4147-A177-3AD203B41FA5}">
                      <a16:colId xmlns:a16="http://schemas.microsoft.com/office/drawing/2014/main" val="146064735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Learning Path – What one should gain post training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55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 algn="ctr">
                        <a:buAutoNum type="arabicPeriod"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Foundation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2. Fundamentals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3. Development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b="0" i="0" dirty="0">
                          <a:solidFill>
                            <a:srgbClr val="111C24"/>
                          </a:solidFill>
                          <a:effectLst/>
                          <a:latin typeface="+mn-lt"/>
                        </a:rPr>
                        <a:t>How to interact with and navigate through the platform, its features and role-based scenarios of the ServiceNow platform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Assures stability and performance of the Now Platform and will create expertise in application maintenance, user management, and managing support incidents, along with strong technical abilities</a:t>
                      </a:r>
                    </a:p>
                    <a:p>
                      <a:pPr lvl="0" algn="just"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Strong technical knowledge on design, build, and customize applications and services and has expertise in advanced system administration, systems design, development, requirements gathering, and scripting</a:t>
                      </a:r>
                    </a:p>
                    <a:p>
                      <a:pPr lvl="0" algn="just"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20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dirty="0">
                          <a:latin typeface="+mn-lt"/>
                          <a:hlinkClick r:id="rId2"/>
                        </a:rPr>
                        <a:t>ServiceNow Basics Objectives | ServiceNow Developers</a:t>
                      </a:r>
                      <a:endParaRPr lang="en-US" sz="1600" dirty="0">
                        <a:latin typeface="+mn-lt"/>
                      </a:endParaRPr>
                    </a:p>
                    <a:p>
                      <a:pPr lvl="0" algn="just"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pPr lvl="0" algn="just">
                        <a:buNone/>
                      </a:pPr>
                      <a:r>
                        <a:rPr lang="en-US" sz="1600" dirty="0">
                          <a:latin typeface="+mn-lt"/>
                          <a:hlinkClick r:id="rId3"/>
                        </a:rPr>
                        <a:t>Welcome to ServiceNow - Now Learning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1600" dirty="0">
                          <a:latin typeface="+mn-lt"/>
                          <a:hlinkClick r:id="rId4"/>
                        </a:rPr>
                        <a:t>ServiceNow Administrator | ServiceNow Developers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dirty="0">
                          <a:latin typeface="+mn-lt"/>
                          <a:hlinkClick r:id="rId5"/>
                        </a:rPr>
                        <a:t>ServiceNow Application Developer | ServiceNow Developers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410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2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3E4DE469-1FA2-418F-92E5-9CD86C9F1F91}"/>
              </a:ext>
            </a:extLst>
          </p:cNvPr>
          <p:cNvSpPr txBox="1"/>
          <p:nvPr/>
        </p:nvSpPr>
        <p:spPr>
          <a:xfrm>
            <a:off x="619760" y="483445"/>
            <a:ext cx="11210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Timelines and plan of action</a:t>
            </a:r>
            <a:endParaRPr lang="en-GB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658A0-CA4B-43E4-9097-721D9FADC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15571"/>
              </p:ext>
            </p:extLst>
          </p:nvPr>
        </p:nvGraphicFramePr>
        <p:xfrm>
          <a:off x="624478" y="4928942"/>
          <a:ext cx="11205572" cy="103632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7273741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3347083147"/>
                    </a:ext>
                  </a:extLst>
                </a:gridCol>
                <a:gridCol w="3471272">
                  <a:extLst>
                    <a:ext uri="{9D8B030D-6E8A-4147-A177-3AD203B41FA5}">
                      <a16:colId xmlns:a16="http://schemas.microsoft.com/office/drawing/2014/main" val="146064735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Timelines – 3 weeks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55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 algn="ctr">
                        <a:buAutoNum type="arabicPeriod"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Foundation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2. Fundamentals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3. Development</a:t>
                      </a:r>
                    </a:p>
                  </a:txBody>
                  <a:tcPr>
                    <a:solidFill>
                      <a:srgbClr val="38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2 Days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5 days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8 days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205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777FB9-6E72-468E-8826-A0EEAFAAF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972343"/>
              </p:ext>
            </p:extLst>
          </p:nvPr>
        </p:nvGraphicFramePr>
        <p:xfrm>
          <a:off x="604969" y="1331817"/>
          <a:ext cx="11225081" cy="323088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11225081">
                  <a:extLst>
                    <a:ext uri="{9D8B030D-6E8A-4147-A177-3AD203B41FA5}">
                      <a16:colId xmlns:a16="http://schemas.microsoft.com/office/drawing/2014/main" val="1914232934"/>
                    </a:ext>
                  </a:extLst>
                </a:gridCol>
              </a:tblGrid>
              <a:tr h="328461">
                <a:tc>
                  <a:txBody>
                    <a:bodyPr/>
                    <a:lstStyle/>
                    <a:p>
                      <a:r>
                        <a:rPr lang="en-US" sz="2000" dirty="0"/>
                        <a:t>Training Plan and Utilization of the resources</a:t>
                      </a:r>
                    </a:p>
                  </a:txBody>
                  <a:tcPr>
                    <a:solidFill>
                      <a:srgbClr val="047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525093"/>
                  </a:ext>
                </a:extLst>
              </a:tr>
              <a:tr h="130368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Hands-on training  - overseen by </a:t>
                      </a:r>
                      <a:r>
                        <a:rPr lang="en-US"/>
                        <a:t>senior developers</a:t>
                      </a:r>
                      <a:endParaRPr lang="en-US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Involve training resources in development, design, and testing (peer-review) opportunities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Dedicated training on Service catalog on how to create item, workflows and approval matrix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Allow the training resources to shadow the ServiceNow development team on some of the development squads in parallel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Adopt train-the-trainer concept by identifying key resource to develop the next set of 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What's Next?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Consider taking learning journey to the next level by Passing the Certified System Administrator (CSA) exam which is the first step to become a developer in ServiceNow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0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5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3E4DE469-1FA2-418F-92E5-9CD86C9F1F91}"/>
              </a:ext>
            </a:extLst>
          </p:cNvPr>
          <p:cNvSpPr txBox="1"/>
          <p:nvPr/>
        </p:nvSpPr>
        <p:spPr>
          <a:xfrm>
            <a:off x="619760" y="483445"/>
            <a:ext cx="11210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Training Calendar</a:t>
            </a:r>
            <a:endParaRPr lang="en-GB" sz="32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777FB9-6E72-468E-8826-A0EEAFAAF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650038"/>
              </p:ext>
            </p:extLst>
          </p:nvPr>
        </p:nvGraphicFramePr>
        <p:xfrm>
          <a:off x="619760" y="1142780"/>
          <a:ext cx="11225082" cy="521208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4018915">
                  <a:extLst>
                    <a:ext uri="{9D8B030D-6E8A-4147-A177-3AD203B41FA5}">
                      <a16:colId xmlns:a16="http://schemas.microsoft.com/office/drawing/2014/main" val="1914232934"/>
                    </a:ext>
                  </a:extLst>
                </a:gridCol>
                <a:gridCol w="2624641">
                  <a:extLst>
                    <a:ext uri="{9D8B030D-6E8A-4147-A177-3AD203B41FA5}">
                      <a16:colId xmlns:a16="http://schemas.microsoft.com/office/drawing/2014/main" val="747059649"/>
                    </a:ext>
                  </a:extLst>
                </a:gridCol>
                <a:gridCol w="4581526">
                  <a:extLst>
                    <a:ext uri="{9D8B030D-6E8A-4147-A177-3AD203B41FA5}">
                      <a16:colId xmlns:a16="http://schemas.microsoft.com/office/drawing/2014/main" val="1085900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Topics</a:t>
                      </a:r>
                    </a:p>
                  </a:txBody>
                  <a:tcPr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Virtual / Self-paced</a:t>
                      </a:r>
                    </a:p>
                  </a:txBody>
                  <a:tcPr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Learnings/Takeaways</a:t>
                      </a:r>
                    </a:p>
                  </a:txBody>
                  <a:tcPr>
                    <a:solidFill>
                      <a:srgbClr val="047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525093"/>
                  </a:ext>
                </a:extLst>
              </a:tr>
              <a:tr h="130368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ServiceNow Knowledge Week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Feb 20 – Feb 24 – Invites shared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Foundation – Self-paced – Feb 20 – Feb 24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Self-paced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Overview of ServiceNow on the Knowledge week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ServiceNow Basics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ServiceNow Platform 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80404"/>
                  </a:ext>
                </a:extLst>
              </a:tr>
              <a:tr h="130368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Fundamentals Training </a:t>
                      </a:r>
                      <a:r>
                        <a:rPr lang="en-US" sz="1200" dirty="0"/>
                        <a:t>(Daily max 3 hours required from the participants)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Feb 27 – Mar 03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8:30 – 9:30 AM IST/11:00 – 12:00 AM SGT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14:30 – 15:00 AM IST/17:00 – 17:30 AM SGT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Virtual / Self-paced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Scripting in ServiceNow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Client-side scripting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Server-side scripting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Notifications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Service Catalog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07819"/>
                  </a:ext>
                </a:extLst>
              </a:tr>
              <a:tr h="130368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Development Training </a:t>
                      </a:r>
                      <a:r>
                        <a:rPr lang="en-US" sz="1200" dirty="0"/>
                        <a:t>(Daily max 3 hours required from the participants)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Mar 06 – Mar 17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8:30 – 9:30 AM IST/11:00 – 12:00 AM SGT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14:30 – 15:00 AM IST/17:00 – 17:30 AM SGT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Virtual / Self-paced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Integrations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Web Services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Custom widgets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Flow Designer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Import Sets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Workflows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Performance Analytics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/>
                        <a:t>Data visualization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5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20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13039</TotalTime>
  <Words>554</Words>
  <Application>Microsoft Office PowerPoint</Application>
  <PresentationFormat>Widescreen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Office Theme</vt:lpstr>
      <vt:lpstr>ServiceNow - Training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ServiceNow</dc:title>
  <dc:creator>Parakalan, Kasthuri Rengan</dc:creator>
  <cp:lastModifiedBy>Parakalan, Kasthuri Rengan</cp:lastModifiedBy>
  <cp:revision>31</cp:revision>
  <dcterms:created xsi:type="dcterms:W3CDTF">2022-11-18T04:58:23Z</dcterms:created>
  <dcterms:modified xsi:type="dcterms:W3CDTF">2023-02-17T07:03:52Z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0e60c6-cef6-4cc0-a98d-364c7249d74b_Enabled">
    <vt:lpwstr>true</vt:lpwstr>
  </property>
  <property fmtid="{D5CDD505-2E9C-101B-9397-08002B2CF9AE}" pid="3" name="MSIP_Label_840e60c6-cef6-4cc0-a98d-364c7249d74b_SetDate">
    <vt:lpwstr>2023-02-17T07:03:52Z</vt:lpwstr>
  </property>
  <property fmtid="{D5CDD505-2E9C-101B-9397-08002B2CF9AE}" pid="4" name="MSIP_Label_840e60c6-cef6-4cc0-a98d-364c7249d74b_Method">
    <vt:lpwstr>Privileged</vt:lpwstr>
  </property>
  <property fmtid="{D5CDD505-2E9C-101B-9397-08002B2CF9AE}" pid="5" name="MSIP_Label_840e60c6-cef6-4cc0-a98d-364c7249d74b_Name">
    <vt:lpwstr>840e60c6-cef6-4cc0-a98d-364c7249d74b</vt:lpwstr>
  </property>
  <property fmtid="{D5CDD505-2E9C-101B-9397-08002B2CF9AE}" pid="6" name="MSIP_Label_840e60c6-cef6-4cc0-a98d-364c7249d74b_SiteId">
    <vt:lpwstr>b44900f1-2def-4c3b-9ec6-9020d604e19e</vt:lpwstr>
  </property>
  <property fmtid="{D5CDD505-2E9C-101B-9397-08002B2CF9AE}" pid="7" name="MSIP_Label_840e60c6-cef6-4cc0-a98d-364c7249d74b_ActionId">
    <vt:lpwstr>11720ec9-8d5a-4c3f-ab3f-f40908c27b16</vt:lpwstr>
  </property>
  <property fmtid="{D5CDD505-2E9C-101B-9397-08002B2CF9AE}" pid="8" name="MSIP_Label_840e60c6-cef6-4cc0-a98d-364c7249d74b_ContentBits">
    <vt:lpwstr>1</vt:lpwstr>
  </property>
</Properties>
</file>